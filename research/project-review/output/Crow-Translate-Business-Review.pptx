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penAI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t>Chi phí (USD)</a:t>
            </a:r>
            <a:endParaRPr lang="en-US"/>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API dịch</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100k</c:v>
                </c:pt>
                <c:pt idx="1">
                  <c:v>300k</c:v>
                </c:pt>
                <c:pt idx="2">
                  <c:v>600k</c:v>
                </c:pt>
                <c:pt idx="3">
                  <c:v>1M</c:v>
                </c:pt>
              </c:strCache>
            </c:strRef>
          </c:cat>
          <c:val>
            <c:numRef>
              <c:f>Sheet1!$B$2:$B$5</c:f>
              <c:numCache>
                <c:formatCode>0.0</c:formatCode>
                <c:ptCount val="4"/>
                <c:pt idx="0">
                  <c:v>2</c:v>
                </c:pt>
                <c:pt idx="1">
                  <c:v>6</c:v>
                </c:pt>
                <c:pt idx="2">
                  <c:v>12</c:v>
                </c:pt>
                <c:pt idx="3">
                  <c:v>20</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Giá thử</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100k</c:v>
                </c:pt>
                <c:pt idx="1">
                  <c:v>300k</c:v>
                </c:pt>
                <c:pt idx="2">
                  <c:v>600k</c:v>
                </c:pt>
                <c:pt idx="3">
                  <c:v>1M</c:v>
                </c:pt>
              </c:strCache>
            </c:strRef>
          </c:cat>
          <c:val>
            <c:numRef>
              <c:f>Sheet1!$C$2:$C$5</c:f>
              <c:numCache>
                <c:formatCode>0.0</c:formatCode>
                <c:ptCount val="4"/>
                <c:pt idx="0">
                  <c:v>12</c:v>
                </c:pt>
                <c:pt idx="1">
                  <c:v>12</c:v>
                </c:pt>
                <c:pt idx="2">
                  <c:v>12</c:v>
                </c:pt>
                <c:pt idx="3">
                  <c:v>12</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min val="0"/>
          <c:max val="24"/>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r>
              <a:t>Biên đóng góp (%)</a:t>
            </a:r>
            <a:endParaRPr lang="en-US"/>
          </a:p>
        </c:rich>
      </c:tx>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Mô phỏng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100k</c:v>
                </c:pt>
                <c:pt idx="1">
                  <c:v>300k</c:v>
                </c:pt>
                <c:pt idx="2">
                  <c:v>600k</c:v>
                </c:pt>
                <c:pt idx="3">
                  <c:v>1M</c:v>
                </c:pt>
              </c:strCache>
            </c:strRef>
          </c:cat>
          <c:val>
            <c:numRef>
              <c:f>Sheet1!$B$2:$B$5</c:f>
              <c:numCache>
                <c:formatCode>0.0</c:formatCode>
                <c:ptCount val="4"/>
                <c:pt idx="0">
                  <c:v>66.7</c:v>
                </c:pt>
                <c:pt idx="1">
                  <c:v>33.3</c:v>
                </c:pt>
                <c:pt idx="2">
                  <c:v>-16.7</c:v>
                </c:pt>
                <c:pt idx="3">
                  <c:v>-83.3</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Mục tiêu</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100k</c:v>
                </c:pt>
                <c:pt idx="1">
                  <c:v>300k</c:v>
                </c:pt>
                <c:pt idx="2">
                  <c:v>600k</c:v>
                </c:pt>
                <c:pt idx="3">
                  <c:v>1M</c:v>
                </c:pt>
              </c:strCache>
            </c:strRef>
          </c:cat>
          <c:val>
            <c:numRef>
              <c:f>Sheet1!$C$2:$C$5</c:f>
              <c:numCache>
                <c:formatCode>0.0</c:formatCode>
                <c:ptCount val="4"/>
                <c:pt idx="0">
                  <c:v>65</c:v>
                </c:pt>
                <c:pt idx="1">
                  <c:v>65</c:v>
                </c:pt>
                <c:pt idx="2">
                  <c:v>65</c:v>
                </c:pt>
                <c:pt idx="3">
                  <c:v>65</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min val="-100"/>
          <c:max val="100"/>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59633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xmlns:p14="http://schemas.microsoft.com/office/powerpoint/2010/main" val="356178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FB72F921-54D6-E907-7BBA-A2D08F3DCA86}"/>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DBDF75A-5C6A-7C74-D0A7-94385DBCAC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E2C6E797-3671-7C12-6FF8-CDD9BCC4D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209696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30C862B-049F-B436-7F35-91EE3D911DCC}"/>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EF9CC9C-1F90-C4AD-F667-199F86F685D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58CD0644-321E-6D30-5913-BFF9A2B8E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37440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B30B3C1-D818-E0F9-1E40-85E862088E8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33E18C8F-F2F8-56EA-C905-4B0E377B0BE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25ECFD9E-E6AC-EBEE-FC82-79604D288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167443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CFF8FD1-F32C-FBBD-584A-C36FE0DF491E}"/>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C2432F26-92DC-62C8-ED09-AB1B1F5F551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3E256758-F923-3503-0236-6FA20A85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247470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A5A6CCB-F299-ADEB-D492-5FE3101CBB0B}"/>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6137CCB-04A6-5F38-95AD-985416E1A4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091A5E6-876C-B5D0-B6CE-ECBD1EA86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 Source https://support.deepl.com/hc/en-us/articles/18609624054300-About-DeepL-desktop-apps accessed 2026-09-16.</a:t>
            </a:r>
            <a:endParaRPr/>
          </a:p>
        </p:txBody>
      </p:sp>
    </p:spTree>
    <p:extLst>
      <p:ext uri="{BB962C8B-B14F-4D97-AF65-F5344CB8AC3E}">
        <p14:creationId xmlns:p14="http://schemas.microsoft.com/office/powerpoint/2010/main" val="398153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D2FA91CC-0B77-6DA0-1482-7083FF9F63F7}"/>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F79B991-DA38-9CBA-D34B-4F082108B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FA8076AB-FD4D-6EBD-3F87-066813F80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1730285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067008F-DEAC-B8F4-2359-205F6F195BA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D0E8783A-C49B-DC37-27A0-5B583D55093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12AD1EB6-38FE-E70D-9542-BC488087E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 Source https://cloud.google.com/products/translate/pricing accessed 2026-09-16. Assume 20 USD per million code points, one target language. Shared credit excluded. Price 12 USD, other variable costs 2 USD, OCR excluded. Contribution=(12-API-2)/12. All scenarios hypothetical.</a:t>
            </a:r>
            <a:endParaRPr/>
          </a:p>
        </p:txBody>
      </p:sp>
    </p:spTree>
    <p:extLst>
      <p:ext uri="{BB962C8B-B14F-4D97-AF65-F5344CB8AC3E}">
        <p14:creationId xmlns:p14="http://schemas.microsoft.com/office/powerpoint/2010/main" val="3094995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71054682-DD96-8E88-C2CA-AB1496CA8B1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4203AA1-1C05-EDFC-35F9-DD3970DA60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F80D632-F012-4540-2F11-B1545774C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 Source https://cloud.google.com/products/translate/pricing accessed 2026-09-16. Assume 20 USD per million code points, one target language. Shared credit excluded. Price 12 USD, other variable costs 2 USD, OCR excluded. Contribution=(12-API-2)/12. All scenarios hypothetical.</a:t>
            </a:r>
            <a:endParaRPr/>
          </a:p>
        </p:txBody>
      </p:sp>
    </p:spTree>
    <p:extLst>
      <p:ext uri="{BB962C8B-B14F-4D97-AF65-F5344CB8AC3E}">
        <p14:creationId xmlns:p14="http://schemas.microsoft.com/office/powerpoint/2010/main" val="3346200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660624CF-871F-6C1A-3A40-064D7581713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517905A2-2B1F-6EBD-F467-D5DA4CFF57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836FD638-E9DC-1F2D-C7CC-0F9E5672A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a:p>
        </p:txBody>
      </p:sp>
    </p:spTree>
    <p:extLst>
      <p:ext uri="{BB962C8B-B14F-4D97-AF65-F5344CB8AC3E}">
        <p14:creationId xmlns:p14="http://schemas.microsoft.com/office/powerpoint/2010/main" val="4154251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D9C57-F2D4-0074-5E69-DF23767A5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C5DF4-FB2A-E8CB-7686-BDF529D24F55}"/>
              </a:ext>
            </a:extLst>
          </p:cNvPr>
          <p:cNvSpPr>
            <a:spLocks noGrp="1"/>
          </p:cNvSpPr>
          <p:nvPr>
            <p:ph type="body" idx="1"/>
          </p:nvPr>
        </p:nvSpPr>
        <p:spPr/>
        <p:txBody>
          <a:bodyPr/>
          <a:lstStyle/>
          <a:p>
            <a:r>
              <a:t>Đánh giá code Crow Translate tại commit f85adfbf73270e82f243deb356cdb1b17185152a, ngày 16/09/2026. Không có dữ liệu doanh thu hoặc thử nghiệm khách hàng. Giá mục tiêu công sức và lịch là đề xuất. Xem tài liệu Word đi kèm cho acceptance và phương pháp.</a:t>
            </a:r>
            <a:endParaRPr lang="en-US"/>
          </a:p>
        </p:txBody>
      </p:sp>
      <p:sp>
        <p:nvSpPr>
          <p:cNvPr id="4" name="Slide Number Placeholder 3">
            <a:extLst>
              <a:ext uri="{FF2B5EF4-FFF2-40B4-BE49-F238E27FC236}">
                <a16:creationId xmlns:a16="http://schemas.microsoft.com/office/drawing/2014/main"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xmlns:p14="http://schemas.microsoft.com/office/powerpoint/2010/main" val="420662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Crow Translate</a:t>
            </a:r>
          </a:p>
          <a:p>
            <a:r>
              <a:rPr lang="en-US" sz="5500" dirty="0">
                <a:solidFill>
                  <a:schemeClr val="accent1"/>
                </a:solidFill>
                <a:latin typeface="Lora Medium" pitchFamily="2" charset="77"/>
                <a:cs typeface="Roboto Serif 14pt" pitchFamily="2" charset="77"/>
              </a:rPr>
              <a:t>Đánh giá kinh doanh</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Hiện trạng kỹ thuật, các cải tiến cần thiết và MVP dịch cho đội nhóm. Dựa trên code ngày 16/09/2026. Giá và mục tiêu trong deck là giả thuyết để thử, chưa phải kết quả kinh doanh.</a:t>
            </a:r>
          </a:p>
        </p:txBody>
      </p:sp>
      <p:sp>
        <p:nvSpPr>
          <p:cNvPr id="6" name="Subtitle 4">
            <a:extLst>
              <a:ext uri="{FF2B5EF4-FFF2-40B4-BE49-F238E27FC236}">
                <a16:creationId xmlns:a16="http://schemas.microsoft.com/office/drawing/2014/main"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Tháng 09 năm 2026</a:t>
            </a:r>
          </a:p>
        </p:txBody>
      </p:sp>
      <p:sp>
        <p:nvSpPr>
          <p:cNvPr id="10" name="Subtitle 4">
            <a:extLst>
              <a:ext uri="{FF2B5EF4-FFF2-40B4-BE49-F238E27FC236}">
                <a16:creationId xmlns:a16="http://schemas.microsoft.com/office/drawing/2014/main"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Crow Translate</a:t>
            </a:r>
          </a:p>
        </p:txBody>
      </p:sp>
      <p:cxnSp>
        <p:nvCxnSpPr>
          <p:cNvPr id="7" name="Straight Connector 6">
            <a:extLst>
              <a:ext uri="{FF2B5EF4-FFF2-40B4-BE49-F238E27FC236}">
                <a16:creationId xmlns:a16="http://schemas.microsoft.com/office/drawing/2014/main"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xmlns:a16="http://schemas.microsoft.com/office/drawing/2014/main" id="{40BD946D-556A-ECA8-679C-19ABE963A4E5}"/>
              </a:ext>
            </a:extLst>
          </p:cNvPr>
          <p:cNvSpPr>
            <a:spLocks noGrp="1"/>
          </p:cNvSpPr>
          <p:nvPr>
            <p:ph type="title"/>
          </p:nvPr>
        </p:nvSpPr>
        <p:spPr>
          <a:xfrm>
            <a:off x="393699" y="1046195"/>
            <a:ext cx="9448800" cy="985805"/>
          </a:xfrm>
        </p:spPr>
        <p:txBody>
          <a:bodyPr>
            <a:normAutofit/>
          </a:bodyPr>
          <a:lstStyle/>
          <a:p>
            <a:r>
              <a:rPr lang="en-US" dirty="0"/>
              <a:t>Nội dung đánh giá</a:t>
            </a:r>
          </a:p>
        </p:txBody>
      </p:sp>
      <p:sp>
        <p:nvSpPr>
          <p:cNvPr id="5" name="Subtitle 4">
            <a:extLst>
              <a:ext uri="{FF2B5EF4-FFF2-40B4-BE49-F238E27FC236}">
                <a16:creationId xmlns:a16="http://schemas.microsoft.com/office/drawing/2014/main"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Tổng quan</a:t>
            </a:r>
          </a:p>
        </p:txBody>
      </p:sp>
      <p:graphicFrame>
        <p:nvGraphicFramePr>
          <p:cNvPr id="7" name="Table 6">
            <a:extLst>
              <a:ext uri="{FF2B5EF4-FFF2-40B4-BE49-F238E27FC236}">
                <a16:creationId xmlns:a16="http://schemas.microsoft.com/office/drawing/2014/main" id="{AEB3874C-EF1B-D79F-C3F5-6702ABF89D27}"/>
              </a:ext>
            </a:extLst>
          </p:cNvPr>
          <p:cNvGraphicFramePr>
            <a:graphicFrameLocks noGrp="1"/>
          </p:cNvGraphicFramePr>
          <p:nvPr>
            <p:extLst>
              <p:ext uri="{D42A27DB-BD31-4B8C-83A1-F6EECF244321}">
                <p14:modId xmlns:p14="http://schemas.microsoft.com/office/powerpoint/2010/main"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xmlns:a16="http://schemas.microsoft.com/office/drawing/2014/main" val="1631070132"/>
                    </a:ext>
                  </a:extLst>
                </a:gridCol>
                <a:gridCol w="6875813">
                  <a:extLst>
                    <a:ext uri="{9D8B030D-6E8A-4147-A177-3AD203B41FA5}">
                      <a16:colId xmlns:a16="http://schemas.microsoft.com/office/drawing/2014/main" val="1616312772"/>
                    </a:ext>
                  </a:extLst>
                </a:gridCol>
                <a:gridCol w="3901209">
                  <a:extLst>
                    <a:ext uri="{9D8B030D-6E8A-4147-A177-3AD203B41FA5}">
                      <a16:colId xmlns:a16="http://schemas.microsoft.com/office/drawing/2014/main"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Hiện trạng và kết luận</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Sản phẩm</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Rủi ro và cải tiến</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Kỹ thuật</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MVP thương mại</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Sản phẩm</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Giá và chi phí</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Kinh doanh</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Lộ trình và thử nghiệm</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Nhóm dự án</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Quyết định đầu tư</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Chủ dự án</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08150"/>
                  </a:ext>
                </a:extLst>
              </a:tr>
            </a:tbl>
          </a:graphicData>
        </a:graphic>
      </p:graphicFrame>
      <p:sp>
        <p:nvSpPr>
          <p:cNvPr id="4" name="Footer Placeholder 3">
            <a:extLst>
              <a:ext uri="{FF2B5EF4-FFF2-40B4-BE49-F238E27FC236}">
                <a16:creationId xmlns:a16="http://schemas.microsoft.com/office/drawing/2014/main"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36013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Có popup, hotkey, OCR và plugin. Chưa đủ bằng chứng để bán rộng rãi. Lần chạy test đầu đạt 58, lỗi 2, bỏ qua 1.</a:t>
            </a: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3</a:t>
            </a:fld>
            <a:endParaRPr dirty="0">
              <a:sym typeface="OpenAI Sans"/>
            </a:endParaRPr>
          </a:p>
        </p:txBody>
      </p:sp>
      <p:sp>
        <p:nvSpPr>
          <p:cNvPr id="2" name="Footer Placeholder 1">
            <a:extLst>
              <a:ext uri="{FF2B5EF4-FFF2-40B4-BE49-F238E27FC236}">
                <a16:creationId xmlns:a16="http://schemas.microsoft.com/office/drawing/2014/main"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xmlns:a16="http://schemas.microsoft.com/office/drawing/2014/main"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Hiện trạng</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6" name="Google Shape;534;p58">
            <a:extLst>
              <a:ext uri="{FF2B5EF4-FFF2-40B4-BE49-F238E27FC236}">
                <a16:creationId xmlns:a16="http://schemas.microsoft.com/office/drawing/2014/main"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Thử glossary và bộ nhớ bản dịch cho CSKH và vận hành. Đo giá trị trên một quy trình lặp.</a:t>
            </a:r>
          </a:p>
        </p:txBody>
      </p:sp>
      <p:sp>
        <p:nvSpPr>
          <p:cNvPr id="7" name="Google Shape;534;p58">
            <a:extLst>
              <a:ext uri="{FF2B5EF4-FFF2-40B4-BE49-F238E27FC236}">
                <a16:creationId xmlns:a16="http://schemas.microsoft.com/office/drawing/2014/main"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Cơ hội ưu tiên</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0" name="Title 2">
            <a:extLst>
              <a:ext uri="{FF2B5EF4-FFF2-40B4-BE49-F238E27FC236}">
                <a16:creationId xmlns:a16="http://schemas.microsoft.com/office/drawing/2014/main" id="{944AF173-BF22-B5ED-B88F-9080D8699E64}"/>
              </a:ext>
            </a:extLst>
          </p:cNvPr>
          <p:cNvSpPr>
            <a:spLocks noGrp="1"/>
          </p:cNvSpPr>
          <p:nvPr>
            <p:ph type="title"/>
          </p:nvPr>
        </p:nvSpPr>
        <p:spPr>
          <a:xfrm>
            <a:off x="393699" y="1046195"/>
            <a:ext cx="11403610" cy="623819"/>
          </a:xfrm>
        </p:spPr>
        <p:txBody>
          <a:bodyPr>
            <a:normAutofit/>
          </a:bodyPr>
          <a:lstStyle/>
          <a:p>
            <a:r>
              <a:rPr lang="en-US" dirty="0"/>
              <a:t>Nền tảng tốt cho pilot có kiểm soát</a:t>
            </a:r>
          </a:p>
        </p:txBody>
      </p:sp>
      <p:sp>
        <p:nvSpPr>
          <p:cNvPr id="11" name="Subtitle 4">
            <a:extLst>
              <a:ext uri="{FF2B5EF4-FFF2-40B4-BE49-F238E27FC236}">
                <a16:creationId xmlns:a16="http://schemas.microsoft.com/office/drawing/2014/main"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Kết luận</a:t>
            </a:r>
          </a:p>
        </p:txBody>
      </p:sp>
      <p:cxnSp>
        <p:nvCxnSpPr>
          <p:cNvPr id="15" name="Straight Connector 14">
            <a:extLst>
              <a:ext uri="{FF2B5EF4-FFF2-40B4-BE49-F238E27FC236}">
                <a16:creationId xmlns:a16="http://schemas.microsoft.com/office/drawing/2014/main"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xmlns:a16="http://schemas.microsoft.com/office/drawing/2014/main"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Chọn khách hàng đích, sửa P0 và tuyển 5 tổ chức pilot. Chưa có quyết định đầu tư được phê duyệt.</a:t>
            </a:r>
          </a:p>
        </p:txBody>
      </p:sp>
      <p:sp>
        <p:nvSpPr>
          <p:cNvPr id="17" name="Google Shape;534;p58">
            <a:extLst>
              <a:ext uri="{FF2B5EF4-FFF2-40B4-BE49-F238E27FC236}">
                <a16:creationId xmlns:a16="http://schemas.microsoft.com/office/drawing/2014/main"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Quyết định cần chốt</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3" name="Rounded Rectangle 2">
            <a:extLst>
              <a:ext uri="{FF2B5EF4-FFF2-40B4-BE49-F238E27FC236}">
                <a16:creationId xmlns:a16="http://schemas.microsoft.com/office/drawing/2014/main"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Cần hoàn thiện</a:t>
            </a:r>
          </a:p>
        </p:txBody>
      </p:sp>
      <p:sp>
        <p:nvSpPr>
          <p:cNvPr id="14" name="TextBox 13">
            <a:extLst>
              <a:ext uri="{FF2B5EF4-FFF2-40B4-BE49-F238E27FC236}">
                <a16:creationId xmlns:a16="http://schemas.microsoft.com/office/drawing/2014/main"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Hướng đề xuất</a:t>
            </a:r>
          </a:p>
        </p:txBody>
      </p:sp>
      <p:sp>
        <p:nvSpPr>
          <p:cNvPr id="18" name="Google Shape;534;p58">
            <a:extLst>
              <a:ext uri="{FF2B5EF4-FFF2-40B4-BE49-F238E27FC236}">
                <a16:creationId xmlns:a16="http://schemas.microsoft.com/office/drawing/2014/main"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Ổn định bản Windows, rồi thử F1 và F2 trước khi mở rộng backend.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FE338EF2-CCFB-FA1F-AED3-8C8C1BA35C4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4</a:t>
            </a:fld>
            <a:endParaRPr dirty="0">
              <a:sym typeface="OpenAI Sans"/>
            </a:endParaRPr>
          </a:p>
        </p:txBody>
      </p:sp>
      <p:sp>
        <p:nvSpPr>
          <p:cNvPr id="533" name="Google Shape;533;p58">
            <a:extLst>
              <a:ext uri="{FF2B5EF4-FFF2-40B4-BE49-F238E27FC236}">
                <a16:creationId xmlns:a16="http://schemas.microsoft.com/office/drawing/2014/main"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Nền tảng sản phẩm hiện có</a:t>
            </a:r>
            <a:endParaRPr dirty="0">
              <a:solidFill>
                <a:schemeClr val="accent1"/>
              </a:solidFill>
            </a:endParaRPr>
          </a:p>
        </p:txBody>
      </p:sp>
      <p:sp>
        <p:nvSpPr>
          <p:cNvPr id="7" name="Rounded Rectangle 6">
            <a:extLst>
              <a:ext uri="{FF2B5EF4-FFF2-40B4-BE49-F238E27FC236}">
                <a16:creationId xmlns:a16="http://schemas.microsoft.com/office/drawing/2014/main"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xmlns:a16="http://schemas.microsoft.com/office/drawing/2014/main"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xmlns:a16="http://schemas.microsoft.com/office/drawing/2014/main"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Hotkey clipboard, vùng chọn và popup ghim giảm chuyển cửa sổ.</a:t>
            </a:r>
          </a:p>
        </p:txBody>
      </p:sp>
      <p:sp>
        <p:nvSpPr>
          <p:cNvPr id="2" name="Rounded Rectangle 1">
            <a:extLst>
              <a:ext uri="{FF2B5EF4-FFF2-40B4-BE49-F238E27FC236}">
                <a16:creationId xmlns:a16="http://schemas.microsoft.com/office/drawing/2014/main"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xmlns:a16="http://schemas.microsoft.com/office/drawing/2014/main"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xmlns:a16="http://schemas.microsoft.com/office/drawing/2014/main"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xmlns:a16="http://schemas.microsoft.com/office/drawing/2014/main"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Google v2 có timeout và retry. Async và stale tracker đã có; điều phối chi phí cần hoàn thiện.</a:t>
            </a:r>
          </a:p>
        </p:txBody>
      </p:sp>
      <p:sp>
        <p:nvSpPr>
          <p:cNvPr id="13" name="Google Shape;534;p58">
            <a:extLst>
              <a:ext uri="{FF2B5EF4-FFF2-40B4-BE49-F238E27FC236}">
                <a16:creationId xmlns:a16="http://schemas.microsoft.com/office/drawing/2014/main"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Dịch trong luồng làm việc</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4" name="TextBox 13">
            <a:extLst>
              <a:ext uri="{FF2B5EF4-FFF2-40B4-BE49-F238E27FC236}">
                <a16:creationId xmlns:a16="http://schemas.microsoft.com/office/drawing/2014/main"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Dịch và popup</a:t>
            </a:r>
          </a:p>
        </p:txBody>
      </p:sp>
      <p:sp>
        <p:nvSpPr>
          <p:cNvPr id="16" name="Content Placeholder 10">
            <a:extLst>
              <a:ext uri="{FF2B5EF4-FFF2-40B4-BE49-F238E27FC236}">
                <a16:creationId xmlns:a16="http://schemas.microsoft.com/office/drawing/2014/main"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Tesseract local và OpenAI cloud; screenshot picker đã có.</a:t>
            </a:r>
          </a:p>
        </p:txBody>
      </p:sp>
      <p:sp>
        <p:nvSpPr>
          <p:cNvPr id="17" name="TextBox 16">
            <a:extLst>
              <a:ext uri="{FF2B5EF4-FFF2-40B4-BE49-F238E27FC236}">
                <a16:creationId xmlns:a16="http://schemas.microsoft.com/office/drawing/2014/main"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OCR hai lựa chọn</a:t>
            </a:r>
          </a:p>
        </p:txBody>
      </p:sp>
      <p:sp>
        <p:nvSpPr>
          <p:cNvPr id="18" name="Content Placeholder 10">
            <a:extLst>
              <a:ext uri="{FF2B5EF4-FFF2-40B4-BE49-F238E27FC236}">
                <a16:creationId xmlns:a16="http://schemas.microsoft.com/office/drawing/2014/main"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Plugin allowlist có sẵn; save preferences cần giữ plugin.</a:t>
            </a:r>
          </a:p>
        </p:txBody>
      </p:sp>
      <p:sp>
        <p:nvSpPr>
          <p:cNvPr id="19" name="TextBox 18">
            <a:extLst>
              <a:ext uri="{FF2B5EF4-FFF2-40B4-BE49-F238E27FC236}">
                <a16:creationId xmlns:a16="http://schemas.microsoft.com/office/drawing/2014/main"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Mở rộng provider</a:t>
            </a:r>
          </a:p>
        </p:txBody>
      </p:sp>
      <p:sp>
        <p:nvSpPr>
          <p:cNvPr id="20" name="Content Placeholder 10">
            <a:extLst>
              <a:ext uri="{FF2B5EF4-FFF2-40B4-BE49-F238E27FC236}">
                <a16:creationId xmlns:a16="http://schemas.microsoft.com/office/drawing/2014/main"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Tray, history và CLI hỗ trợ người dùng và automation.</a:t>
            </a:r>
          </a:p>
        </p:txBody>
      </p:sp>
      <p:sp>
        <p:nvSpPr>
          <p:cNvPr id="21" name="TextBox 20">
            <a:extLst>
              <a:ext uri="{FF2B5EF4-FFF2-40B4-BE49-F238E27FC236}">
                <a16:creationId xmlns:a16="http://schemas.microsoft.com/office/drawing/2014/main"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Desktop và CLI</a:t>
            </a:r>
          </a:p>
        </p:txBody>
      </p:sp>
    </p:spTree>
    <p:extLst>
      <p:ext uri="{BB962C8B-B14F-4D97-AF65-F5344CB8AC3E}">
        <p14:creationId xmlns:p14="http://schemas.microsoft.com/office/powerpoint/2010/main" val="2179535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0781FDF-4130-4E67-D3EE-AE7C2129CF1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5</a:t>
            </a:fld>
            <a:endParaRPr dirty="0">
              <a:sym typeface="OpenAI Sans"/>
            </a:endParaRPr>
          </a:p>
        </p:txBody>
      </p:sp>
      <p:sp>
        <p:nvSpPr>
          <p:cNvPr id="533" name="Google Shape;533;p58">
            <a:extLst>
              <a:ext uri="{FF2B5EF4-FFF2-40B4-BE49-F238E27FC236}">
                <a16:creationId xmlns:a16="http://schemas.microsoft.com/office/drawing/2014/main"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Bốn điều kiện trước pilot</a:t>
            </a:r>
            <a:endParaRPr dirty="0">
              <a:solidFill>
                <a:schemeClr val="accent1"/>
              </a:solidFill>
            </a:endParaRPr>
          </a:p>
        </p:txBody>
      </p:sp>
      <p:sp>
        <p:nvSpPr>
          <p:cNvPr id="11" name="Footer Placeholder 10">
            <a:extLst>
              <a:ext uri="{FF2B5EF4-FFF2-40B4-BE49-F238E27FC236}">
                <a16:creationId xmlns:a16="http://schemas.microsoft.com/office/drawing/2014/main"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API key lưu trong TOML. History ghi JSON trực tiếp và được hai viewmodel dùng chung. Save preferences dựng lại manager chỉ với Google. Cần xử lý trước khi phục vụ đội nhóm.</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DPI và cancel OCR cần kiểm tra riêng. Test lỗi không đồng nghĩa mọi hành vi tương ứng đều sai.</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 name="Google Shape;534;p58">
            <a:extLst>
              <a:ext uri="{FF2B5EF4-FFF2-40B4-BE49-F238E27FC236}">
                <a16:creationId xmlns:a16="http://schemas.microsoft.com/office/drawing/2014/main"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Độ tin cậy và dữ liệu cần ưu tiên.</a:t>
            </a:r>
          </a:p>
        </p:txBody>
      </p:sp>
      <p:sp>
        <p:nvSpPr>
          <p:cNvPr id="27" name="Content Placeholder 10">
            <a:extLst>
              <a:ext uri="{FF2B5EF4-FFF2-40B4-BE49-F238E27FC236}">
                <a16:creationId xmlns:a16="http://schemas.microsoft.com/office/drawing/2014/main"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TOML không còn key mới. History có một writer và atomic replace.</a:t>
            </a:r>
          </a:p>
        </p:txBody>
      </p:sp>
      <p:sp>
        <p:nvSpPr>
          <p:cNvPr id="28" name="TextBox 27">
            <a:extLst>
              <a:ext uri="{FF2B5EF4-FFF2-40B4-BE49-F238E27FC236}">
                <a16:creationId xmlns:a16="http://schemas.microsoft.com/office/drawing/2014/main"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Secret và history</a:t>
            </a:r>
          </a:p>
        </p:txBody>
      </p:sp>
      <p:sp>
        <p:nvSpPr>
          <p:cNvPr id="2" name="Rounded Rectangle 1">
            <a:extLst>
              <a:ext uri="{FF2B5EF4-FFF2-40B4-BE49-F238E27FC236}">
                <a16:creationId xmlns:a16="http://schemas.microsoft.com/office/drawing/2014/main"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xmlns:a16="http://schemas.microsoft.com/office/drawing/2014/main"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Provider bật vẫn hoạt động sau save. Factory lỗi không làm app sập.</a:t>
            </a:r>
          </a:p>
        </p:txBody>
      </p:sp>
      <p:sp>
        <p:nvSpPr>
          <p:cNvPr id="6" name="TextBox 5">
            <a:extLst>
              <a:ext uri="{FF2B5EF4-FFF2-40B4-BE49-F238E27FC236}">
                <a16:creationId xmlns:a16="http://schemas.microsoft.com/office/drawing/2014/main"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Vòng đời plugin</a:t>
            </a:r>
          </a:p>
        </p:txBody>
      </p:sp>
      <p:sp>
        <p:nvSpPr>
          <p:cNvPr id="7" name="Rounded Rectangle 6">
            <a:extLst>
              <a:ext uri="{FF2B5EF4-FFF2-40B4-BE49-F238E27FC236}">
                <a16:creationId xmlns:a16="http://schemas.microsoft.com/office/drawing/2014/main"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xmlns:a16="http://schemas.microsoft.com/office/drawing/2014/main"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Test hotkey thống nhất yêu cầu. Async test dùng điểm đồng bộ rõ.</a:t>
            </a:r>
          </a:p>
        </p:txBody>
      </p:sp>
      <p:sp>
        <p:nvSpPr>
          <p:cNvPr id="9" name="TextBox 8">
            <a:extLst>
              <a:ext uri="{FF2B5EF4-FFF2-40B4-BE49-F238E27FC236}">
                <a16:creationId xmlns:a16="http://schemas.microsoft.com/office/drawing/2014/main"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Suite test ổn định</a:t>
            </a:r>
          </a:p>
        </p:txBody>
      </p:sp>
      <p:sp>
        <p:nvSpPr>
          <p:cNvPr id="10" name="Rounded Rectangle 9">
            <a:extLst>
              <a:ext uri="{FF2B5EF4-FFF2-40B4-BE49-F238E27FC236}">
                <a16:creationId xmlns:a16="http://schemas.microsoft.com/office/drawing/2014/main"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336614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4C3029DB-B611-6782-57C9-74AD8C9AF80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6</a:t>
            </a:fld>
            <a:endParaRPr dirty="0">
              <a:sym typeface="OpenAI Sans"/>
            </a:endParaRPr>
          </a:p>
        </p:txBody>
      </p:sp>
      <p:sp>
        <p:nvSpPr>
          <p:cNvPr id="10" name="Rounded Rectangle 9">
            <a:extLst>
              <a:ext uri="{FF2B5EF4-FFF2-40B4-BE49-F238E27FC236}">
                <a16:creationId xmlns:a16="http://schemas.microsoft.com/office/drawing/2014/main"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xmlns:a16="http://schemas.microsoft.com/office/drawing/2014/main"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Bộ nhớ bản dịch</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Tái dùng câu đã duyệt. Exact match theo ngôn ngữ và version glossary.</a:t>
            </a:r>
            <a:endParaRPr lang="en-US" sz="1600" dirty="0"/>
          </a:p>
        </p:txBody>
      </p:sp>
      <p:sp>
        <p:nvSpPr>
          <p:cNvPr id="13" name="Content Placeholder 10">
            <a:extLst>
              <a:ext uri="{FF2B5EF4-FFF2-40B4-BE49-F238E27FC236}">
                <a16:creationId xmlns:a16="http://schemas.microsoft.com/office/drawing/2014/main"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Workspace nhóm</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Policy cloud, quota và onboarding. Làm khi pilot cho tín hiệu.</a:t>
            </a:r>
            <a:endParaRPr lang="en-US" sz="1600" dirty="0"/>
          </a:p>
        </p:txBody>
      </p:sp>
      <p:sp>
        <p:nvSpPr>
          <p:cNvPr id="14" name="Google Shape;340;p61">
            <a:extLst>
              <a:ext uri="{FF2B5EF4-FFF2-40B4-BE49-F238E27FC236}">
                <a16:creationId xmlns:a16="http://schemas.microsoft.com/office/drawing/2014/main"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xmlns:a16="http://schemas.microsoft.com/office/drawing/2014/main"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xmlns:a16="http://schemas.microsoft.com/office/drawing/2014/main"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xmlns:a16="http://schemas.microsoft.com/office/drawing/2014/main"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MVP có thể thu phí</a:t>
            </a:r>
          </a:p>
        </p:txBody>
      </p:sp>
      <p:sp>
        <p:nvSpPr>
          <p:cNvPr id="5" name="Rounded Rectangle 4">
            <a:extLst>
              <a:ext uri="{FF2B5EF4-FFF2-40B4-BE49-F238E27FC236}">
                <a16:creationId xmlns:a16="http://schemas.microsoft.com/office/drawing/2014/main"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xmlns:a16="http://schemas.microsoft.com/office/drawing/2014/main"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Glossary nhóm</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Quản lý tên sản phẩm và thuật ngữ. Import CSV và cảnh báo sai.</a:t>
            </a:r>
            <a:endParaRPr lang="en-US" sz="1600" dirty="0"/>
          </a:p>
        </p:txBody>
      </p:sp>
      <p:sp>
        <p:nvSpPr>
          <p:cNvPr id="7" name="Google Shape;340;p61">
            <a:extLst>
              <a:ext uri="{FF2B5EF4-FFF2-40B4-BE49-F238E27FC236}">
                <a16:creationId xmlns:a16="http://schemas.microsoft.com/office/drawing/2014/main"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xmlns:a16="http://schemas.microsoft.com/office/drawing/2014/main"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Khách hàng thử là CSKH và vận hành Windows dùng Việt Anh. OCR review và private session là nền tảng chất lượng. Chưa có dữ liệu willingness to pay.</a:t>
            </a:r>
          </a:p>
        </p:txBody>
      </p:sp>
      <p:sp>
        <p:nvSpPr>
          <p:cNvPr id="18" name="Google Shape;534;p58">
            <a:extLst>
              <a:ext uri="{FF2B5EF4-FFF2-40B4-BE49-F238E27FC236}">
                <a16:creationId xmlns:a16="http://schemas.microsoft.com/office/drawing/2014/main"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F1 và F2 là trọng tâm đề xuất.</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Tree>
    <p:extLst>
      <p:ext uri="{BB962C8B-B14F-4D97-AF65-F5344CB8AC3E}">
        <p14:creationId xmlns:p14="http://schemas.microsoft.com/office/powerpoint/2010/main" val="156618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955627D7-4531-FF60-E9C2-2F11A6392F36}"/>
            </a:ext>
          </a:extLst>
        </p:cNvPr>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Nhánh theo hợp đồng</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Offline hoặc on premises phù hợp khách có yêu cầu dữ liệu. Cần provider local, license model rõ và benchmark Việt Anh trước bán.</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OCR review giúp đối chiếu SKU, giá và số lượng. Chi phí support phải tính vào hợp đồng.</a:t>
            </a:r>
          </a:p>
        </p:txBody>
      </p:sp>
      <p:sp>
        <p:nvSpPr>
          <p:cNvPr id="532" name="Google Shape;532;p58">
            <a:extLst>
              <a:ext uri="{FF2B5EF4-FFF2-40B4-BE49-F238E27FC236}">
                <a16:creationId xmlns:a16="http://schemas.microsoft.com/office/drawing/2014/main"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penAI Sans"/>
              </a:rPr>
              <a:pPr/>
              <a:t>7</a:t>
            </a:fld>
            <a:endParaRPr lang="en" dirty="0">
              <a:sym typeface="OpenAI Sans"/>
            </a:endParaRPr>
          </a:p>
        </p:txBody>
      </p:sp>
      <p:sp>
        <p:nvSpPr>
          <p:cNvPr id="533" name="Google Shape;533;p58">
            <a:extLst>
              <a:ext uri="{FF2B5EF4-FFF2-40B4-BE49-F238E27FC236}">
                <a16:creationId xmlns:a16="http://schemas.microsoft.com/office/drawing/2014/main"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Các hướng mở rộng sau pilot</a:t>
            </a:r>
          </a:p>
        </p:txBody>
      </p:sp>
      <p:sp>
        <p:nvSpPr>
          <p:cNvPr id="2" name="Google Shape;534;p58">
            <a:extLst>
              <a:ext uri="{FF2B5EF4-FFF2-40B4-BE49-F238E27FC236}">
                <a16:creationId xmlns:a16="http://schemas.microsoft.com/office/drawing/2014/main"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Nhánh cần thử thêm</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Dịch TXT CSV và subtitle có thể phục vụ localization. Cần queue, preview, giữ ID và export.</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Sổ từ và export Anki tận dụng history cho người học. Chưa ưu tiên vì khác khách hàng đích và chưa có bằng chứng trả phí.</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Chỉ mở một nhánh sau khi có tín hiệu.</a:t>
            </a:r>
          </a:p>
        </p:txBody>
      </p:sp>
    </p:spTree>
    <p:extLst>
      <p:ext uri="{BB962C8B-B14F-4D97-AF65-F5344CB8AC3E}">
        <p14:creationId xmlns:p14="http://schemas.microsoft.com/office/powerpoint/2010/main" val="54622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F4F4A9C-A879-377C-6409-053F582355F7}"/>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8</a:t>
            </a:fld>
            <a:endParaRPr dirty="0">
              <a:sym typeface="OpenAI Sans"/>
            </a:endParaRPr>
          </a:p>
        </p:txBody>
      </p:sp>
      <p:sp>
        <p:nvSpPr>
          <p:cNvPr id="533" name="Google Shape;533;p58">
            <a:extLst>
              <a:ext uri="{FF2B5EF4-FFF2-40B4-BE49-F238E27FC236}">
                <a16:creationId xmlns:a16="http://schemas.microsoft.com/office/drawing/2014/main"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Lợi thế cần đến từ</a:t>
            </a:r>
            <a:endParaRPr sz="4200" dirty="0">
              <a:solidFill>
                <a:schemeClr val="accent1"/>
              </a:solidFill>
            </a:endParaRPr>
          </a:p>
          <a:p>
            <a:pPr algn="ctr"/>
            <a:r>
              <a:rPr lang="en-US" sz="4200" dirty="0">
                <a:solidFill>
                  <a:schemeClr val="accent1"/>
                </a:solidFill>
              </a:rPr>
              <a:t>quy trình đội nhóm</a:t>
            </a:r>
            <a:endParaRPr sz="4200" dirty="0">
              <a:solidFill>
                <a:schemeClr val="accent1"/>
              </a:solidFill>
            </a:endParaRPr>
          </a:p>
        </p:txBody>
      </p:sp>
      <p:sp>
        <p:nvSpPr>
          <p:cNvPr id="2" name="Footer Placeholder 1">
            <a:extLst>
              <a:ext uri="{FF2B5EF4-FFF2-40B4-BE49-F238E27FC236}">
                <a16:creationId xmlns:a16="http://schemas.microsoft.com/office/drawing/2014/main"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penAI Sans"/>
              </a:rPr>
              <a:t>DeepL desktop đã có shortcut, screen capture, glossary và dịch tệp. OCR screenshot đơn lẻ chưa đủ khác biệt. Crow cần chứng minh giảm thời gian tác vụ, lỗi thuật ngữ và chi phí trên công việc thực. Đây là hướng thử, chưa phải lợi thế cạnh tranh đã xác nhận.</a:t>
            </a:r>
          </a:p>
        </p:txBody>
      </p:sp>
    </p:spTree>
    <p:extLst>
      <p:ext uri="{BB962C8B-B14F-4D97-AF65-F5344CB8AC3E}">
        <p14:creationId xmlns:p14="http://schemas.microsoft.com/office/powerpoint/2010/main" val="346614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8F193B6A-C27E-FD2B-FCAC-CB712B9CC5D0}"/>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9</a:t>
            </a:fld>
            <a:endParaRPr dirty="0">
              <a:sym typeface="OpenAI Sans"/>
            </a:endParaRPr>
          </a:p>
        </p:txBody>
      </p:sp>
      <p:sp>
        <p:nvSpPr>
          <p:cNvPr id="533" name="Google Shape;533;p58">
            <a:extLst>
              <a:ext uri="{FF2B5EF4-FFF2-40B4-BE49-F238E27FC236}">
                <a16:creationId xmlns:a16="http://schemas.microsoft.com/office/drawing/2014/main"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Backlog ưu tiên</a:t>
            </a:r>
            <a:endParaRPr dirty="0">
              <a:solidFill>
                <a:schemeClr val="accent1"/>
              </a:solidFill>
            </a:endParaRPr>
          </a:p>
        </p:txBody>
      </p:sp>
      <p:graphicFrame>
        <p:nvGraphicFramePr>
          <p:cNvPr id="2" name="Google Shape;644;p93">
            <a:extLst>
              <a:ext uri="{FF2B5EF4-FFF2-40B4-BE49-F238E27FC236}">
                <a16:creationId xmlns:a16="http://schemas.microsoft.com/office/drawing/2014/main" id="{D298816F-C507-1B76-C71B-E5F8461142E6}"/>
              </a:ext>
            </a:extLst>
          </p:cNvPr>
          <p:cNvGraphicFramePr/>
          <p:nvPr>
            <p:extLst>
              <p:ext uri="{D42A27DB-BD31-4B8C-83A1-F6EECF244321}">
                <p14:modId xmlns:p14="http://schemas.microsoft.com/office/powerpoint/2010/main"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xmlns:a16="http://schemas.microsoft.com/office/drawing/2014/main" val="20001"/>
                    </a:ext>
                  </a:extLst>
                </a:gridCol>
                <a:gridCol w="1694500">
                  <a:extLst>
                    <a:ext uri="{9D8B030D-6E8A-4147-A177-3AD203B41FA5}">
                      <a16:colId xmlns:a16="http://schemas.microsoft.com/office/drawing/2014/main" val="20002"/>
                    </a:ext>
                  </a:extLst>
                </a:gridCol>
                <a:gridCol w="1694500">
                  <a:extLst>
                    <a:ext uri="{9D8B030D-6E8A-4147-A177-3AD203B41FA5}">
                      <a16:colId xmlns:a16="http://schemas.microsoft.com/office/drawing/2014/main" val="20003"/>
                    </a:ext>
                  </a:extLst>
                </a:gridCol>
                <a:gridCol w="1694500">
                  <a:extLst>
                    <a:ext uri="{9D8B030D-6E8A-4147-A177-3AD203B41FA5}">
                      <a16:colId xmlns:a16="http://schemas.microsoft.com/office/drawing/2014/main" val="20004"/>
                    </a:ext>
                  </a:extLst>
                </a:gridCol>
              </a:tblGrid>
              <a:tr h="558432">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Hạng mục</a:t>
                      </a:r>
                      <a:endParaRPr sz="1400" b="1"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Ưu tiên</a:t>
                      </a:r>
                      <a:endParaRPr sz="1400" b="1"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Ngày</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Kết quả</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xmlns:a16="http://schemas.microsoft.com/office/drawing/2014/main" val="1000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Test suite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 đến 2</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Ổn định</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Secret store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3 đến 5</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Không key rõ</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History writer</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2 đến 4</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Ghi nguyên tử</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Plugin save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P0</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2 đến 4</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Giữ provider</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OCR queue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P1</a:t>
                      </a:r>
                      <a:endParaRPr sz="140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4 đến 7</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Cancel đúng</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DPI crop</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2 đến 5</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Crop đúng</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OCR review</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4 đến 7</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Sửa trước dịch</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Config recovery</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2 đến 3</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Mở được app</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37771735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Build và update</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P1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4 đến 7</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Installer sạch</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306402219"/>
                  </a:ext>
                </a:extLst>
              </a:tr>
            </a:tbl>
          </a:graphicData>
        </a:graphic>
      </p:graphicFrame>
      <p:sp>
        <p:nvSpPr>
          <p:cNvPr id="3" name="Footer Placeholder 2">
            <a:extLst>
              <a:ext uri="{FF2B5EF4-FFF2-40B4-BE49-F238E27FC236}">
                <a16:creationId xmlns:a16="http://schemas.microsoft.com/office/drawing/2014/main"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xmlns:a16="http://schemas.microsoft.com/office/drawing/2014/main"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P0 cần xong trước pilot. Công sức là kỹ sư ngày ước tính cho người quen code, chưa gồm review hoặc chờ chứng thư ký số.</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Không cộng các ước tính thành lịch chắc chắn. Kiểm tra acceptance trên bản cài sạch.</a:t>
            </a:r>
          </a:p>
        </p:txBody>
      </p:sp>
      <p:sp>
        <p:nvSpPr>
          <p:cNvPr id="8" name="Google Shape;534;p58">
            <a:extLst>
              <a:ext uri="{FF2B5EF4-FFF2-40B4-BE49-F238E27FC236}">
                <a16:creationId xmlns:a16="http://schemas.microsoft.com/office/drawing/2014/main"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Ưu tiên theo ảnh hưởng người dùng.</a:t>
            </a:r>
          </a:p>
        </p:txBody>
      </p:sp>
    </p:spTree>
    <p:extLst>
      <p:ext uri="{BB962C8B-B14F-4D97-AF65-F5344CB8AC3E}">
        <p14:creationId xmlns:p14="http://schemas.microsoft.com/office/powerpoint/2010/main" val="25538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CA52547-020D-99FE-7808-E009E93F50A1}"/>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10</a:t>
            </a:fld>
            <a:endParaRPr dirty="0">
              <a:sym typeface="OpenAI Sans"/>
            </a:endParaRPr>
          </a:p>
        </p:txBody>
      </p:sp>
      <p:sp>
        <p:nvSpPr>
          <p:cNvPr id="533" name="Google Shape;533;p58">
            <a:extLst>
              <a:ext uri="{FF2B5EF4-FFF2-40B4-BE49-F238E27FC236}">
                <a16:creationId xmlns:a16="http://schemas.microsoft.com/office/drawing/2014/main"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Chi phí dịch giả định</a:t>
            </a:r>
            <a:endParaRPr dirty="0">
              <a:solidFill>
                <a:schemeClr val="accent1"/>
              </a:solidFill>
            </a:endParaRPr>
          </a:p>
        </p:txBody>
      </p:sp>
      <p:graphicFrame>
        <p:nvGraphicFramePr>
          <p:cNvPr id="4" name="Chart 3">
            <a:extLst>
              <a:ext uri="{FF2B5EF4-FFF2-40B4-BE49-F238E27FC236}">
                <a16:creationId xmlns:a16="http://schemas.microsoft.com/office/drawing/2014/main" id="{892A243F-0816-2E7E-47DA-72090C074831}"/>
              </a:ext>
            </a:extLst>
          </p:cNvPr>
          <p:cNvGraphicFramePr/>
          <p:nvPr>
            <p:extLst>
              <p:ext uri="{D42A27DB-BD31-4B8C-83A1-F6EECF244321}">
                <p14:modId xmlns:p14="http://schemas.microsoft.com/office/powerpoint/2010/main" val="3139987496"/>
              </p:ext>
            </p:extLst>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xmlns:a16="http://schemas.microsoft.com/office/drawing/2014/main"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xmlns:a16="http://schemas.microsoft.com/office/drawing/2014/main"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Giá minh họa 12 USD mỗi seat tháng. Chưa xác nhận khách chấp nhận giá.</a:t>
            </a:r>
          </a:p>
        </p:txBody>
      </p:sp>
      <p:sp>
        <p:nvSpPr>
          <p:cNvPr id="13" name="TextBox 12">
            <a:extLst>
              <a:ext uri="{FF2B5EF4-FFF2-40B4-BE49-F238E27FC236}">
                <a16:creationId xmlns:a16="http://schemas.microsoft.com/office/drawing/2014/main"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Giá thử</a:t>
            </a:r>
          </a:p>
        </p:txBody>
      </p:sp>
      <p:sp>
        <p:nvSpPr>
          <p:cNvPr id="14" name="Content Placeholder 10">
            <a:extLst>
              <a:ext uri="{FF2B5EF4-FFF2-40B4-BE49-F238E27FC236}">
                <a16:creationId xmlns:a16="http://schemas.microsoft.com/office/drawing/2014/main"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100.000 ký tự tốn khoảng 2 USD cho một ngôn ngữ đích, chưa OCR.</a:t>
            </a:r>
          </a:p>
        </p:txBody>
      </p:sp>
      <p:sp>
        <p:nvSpPr>
          <p:cNvPr id="15" name="TextBox 14">
            <a:extLst>
              <a:ext uri="{FF2B5EF4-FFF2-40B4-BE49-F238E27FC236}">
                <a16:creationId xmlns:a16="http://schemas.microsoft.com/office/drawing/2014/main"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Quota cần rõ</a:t>
            </a:r>
          </a:p>
        </p:txBody>
      </p:sp>
      <p:sp>
        <p:nvSpPr>
          <p:cNvPr id="16" name="Rounded Rectangle 15">
            <a:extLst>
              <a:ext uri="{FF2B5EF4-FFF2-40B4-BE49-F238E27FC236}">
                <a16:creationId xmlns:a16="http://schemas.microsoft.com/office/drawing/2014/main"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xmlns:a16="http://schemas.microsoft.com/office/drawing/2014/main"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Không tính credit cho từng seat. Không bán unlimited khi chưa biết usage.</a:t>
            </a:r>
          </a:p>
        </p:txBody>
      </p:sp>
      <p:sp>
        <p:nvSpPr>
          <p:cNvPr id="18" name="TextBox 17">
            <a:extLst>
              <a:ext uri="{FF2B5EF4-FFF2-40B4-BE49-F238E27FC236}">
                <a16:creationId xmlns:a16="http://schemas.microsoft.com/office/drawing/2014/main"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Điều kiện economics</a:t>
            </a:r>
          </a:p>
        </p:txBody>
      </p:sp>
    </p:spTree>
    <p:extLst>
      <p:ext uri="{BB962C8B-B14F-4D97-AF65-F5344CB8AC3E}">
        <p14:creationId xmlns:p14="http://schemas.microsoft.com/office/powerpoint/2010/main" val="314597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1A03D60E-5DAA-16C1-57A8-527A813C058D}"/>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11</a:t>
            </a:fld>
            <a:endParaRPr dirty="0">
              <a:sym typeface="OpenAI Sans"/>
            </a:endParaRPr>
          </a:p>
        </p:txBody>
      </p:sp>
      <p:sp>
        <p:nvSpPr>
          <p:cNvPr id="533" name="Google Shape;533;p58">
            <a:extLst>
              <a:ext uri="{FF2B5EF4-FFF2-40B4-BE49-F238E27FC236}">
                <a16:creationId xmlns:a16="http://schemas.microsoft.com/office/drawing/2014/main"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Biên đóng góp mô phỏng</a:t>
            </a:r>
            <a:endParaRPr dirty="0">
              <a:solidFill>
                <a:schemeClr val="accent1"/>
              </a:solidFill>
            </a:endParaRPr>
          </a:p>
        </p:txBody>
      </p:sp>
      <p:graphicFrame>
        <p:nvGraphicFramePr>
          <p:cNvPr id="4" name="Chart 3">
            <a:extLst>
              <a:ext uri="{FF2B5EF4-FFF2-40B4-BE49-F238E27FC236}">
                <a16:creationId xmlns:a16="http://schemas.microsoft.com/office/drawing/2014/main" id="{F9ECF619-B138-985C-78A5-B4A36DC109EB}"/>
              </a:ext>
            </a:extLst>
          </p:cNvPr>
          <p:cNvGraphicFramePr/>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xmlns:a16="http://schemas.microsoft.com/office/drawing/2014/main"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xmlns:a16="http://schemas.microsoft.com/office/drawing/2014/main"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66,7%</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xmlns:a16="http://schemas.microsoft.com/office/drawing/2014/main"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100k ký tự</a:t>
            </a:r>
            <a:endParaRPr lang="en-US" sz="1600" dirty="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mỗi seat tháng</a:t>
            </a:r>
            <a:endParaRPr lang="en-US" sz="1600" dirty="0">
              <a:ea typeface="Helvetica Neue" panose="02000503000000020004" pitchFamily="2" charset="0"/>
              <a:cs typeface="Helvetica Neue" panose="02000503000000020004" pitchFamily="2" charset="0"/>
              <a:sym typeface="OpenAI Sans"/>
            </a:endParaRPr>
          </a:p>
        </p:txBody>
      </p:sp>
      <p:sp>
        <p:nvSpPr>
          <p:cNvPr id="8" name="Rounded Rectangle 7">
            <a:extLst>
              <a:ext uri="{FF2B5EF4-FFF2-40B4-BE49-F238E27FC236}">
                <a16:creationId xmlns:a16="http://schemas.microsoft.com/office/drawing/2014/main"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xmlns:a16="http://schemas.microsoft.com/office/drawing/2014/main"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65%</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xmlns:a16="http://schemas.microsoft.com/office/drawing/2014/main"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Mục tiêu thử</a:t>
            </a:r>
            <a:endParaRPr lang="en-US" sz="1600" dirty="0">
              <a:ea typeface="Helvetica Neue" panose="02000503000000020004" pitchFamily="2" charset="0"/>
              <a:cs typeface="Helvetica Neue" panose="02000503000000020004" pitchFamily="2" charset="0"/>
              <a:sym typeface="OpenAI Sans"/>
            </a:endParaRPr>
          </a:p>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chưa đạt thực tế</a:t>
            </a:r>
            <a:endParaRPr lang="en-US" sz="1600" dirty="0">
              <a:ea typeface="Helvetica Neue" panose="02000503000000020004" pitchFamily="2" charset="0"/>
              <a:cs typeface="Helvetica Neue" panose="02000503000000020004" pitchFamily="2" charset="0"/>
              <a:sym typeface="OpenAI Sans"/>
            </a:endParaRPr>
          </a:p>
        </p:txBody>
      </p:sp>
      <p:sp>
        <p:nvSpPr>
          <p:cNvPr id="19" name="Content Placeholder 2">
            <a:extLst>
              <a:ext uri="{FF2B5EF4-FFF2-40B4-BE49-F238E27FC236}">
                <a16:creationId xmlns:a16="http://schemas.microsoft.com/office/drawing/2014/main"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Giá 12 USD, giả định chi phí khác 2 USD mỗi seat. Chưa gồm OCR cloud, thuế và chi phí cố định. Usage nặng có thể làm margin âm.</a:t>
            </a:r>
          </a:p>
        </p:txBody>
      </p:sp>
    </p:spTree>
    <p:extLst>
      <p:ext uri="{BB962C8B-B14F-4D97-AF65-F5344CB8AC3E}">
        <p14:creationId xmlns:p14="http://schemas.microsoft.com/office/powerpoint/2010/main" val="39938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Ổn định</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penAI Sans"/>
              </a:rPr>
              <a:t>P0, baseline và onboarding. Xác minh nhu cầu quy trình.</a:t>
            </a:r>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Kế hoạch 90 ngày</a:t>
            </a:r>
          </a:p>
        </p:txBody>
      </p:sp>
      <p:sp>
        <p:nvSpPr>
          <p:cNvPr id="17" name="Text Placeholder 16">
            <a:extLst>
              <a:ext uri="{FF2B5EF4-FFF2-40B4-BE49-F238E27FC236}">
                <a16:creationId xmlns:a16="http://schemas.microsoft.com/office/drawing/2014/main"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MVP và pilot</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Glossary, memory, OCR review và tuyển 5 tổ chức.</a:t>
            </a:r>
          </a:p>
        </p:txBody>
      </p:sp>
      <p:sp>
        <p:nvSpPr>
          <p:cNvPr id="18" name="Content Placeholder 17">
            <a:extLst>
              <a:ext uri="{FF2B5EF4-FFF2-40B4-BE49-F238E27FC236}">
                <a16:creationId xmlns:a16="http://schemas.microsoft.com/office/drawing/2014/main"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Quyết định</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Pilot trả phí, retention và economics. Tiếp tục hoặc điều chỉnh.</a:t>
            </a:r>
          </a:p>
        </p:txBody>
      </p:sp>
      <p:cxnSp>
        <p:nvCxnSpPr>
          <p:cNvPr id="2" name="Google Shape;2259;p159">
            <a:extLst>
              <a:ext uri="{FF2B5EF4-FFF2-40B4-BE49-F238E27FC236}">
                <a16:creationId xmlns:a16="http://schemas.microsoft.com/office/drawing/2014/main"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xmlns:a16="http://schemas.microsoft.com/office/drawing/2014/main"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xmlns:a16="http://schemas.microsoft.com/office/drawing/2014/main"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xmlns:a16="http://schemas.microsoft.com/office/drawing/2014/main"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Ngày 1 đến 15</a:t>
            </a:r>
          </a:p>
        </p:txBody>
      </p:sp>
      <p:sp>
        <p:nvSpPr>
          <p:cNvPr id="13" name="Content Placeholder 15">
            <a:extLst>
              <a:ext uri="{FF2B5EF4-FFF2-40B4-BE49-F238E27FC236}">
                <a16:creationId xmlns:a16="http://schemas.microsoft.com/office/drawing/2014/main"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Ngày 16 đến 60</a:t>
            </a:r>
          </a:p>
        </p:txBody>
      </p:sp>
      <p:sp>
        <p:nvSpPr>
          <p:cNvPr id="14" name="Content Placeholder 15">
            <a:extLst>
              <a:ext uri="{FF2B5EF4-FFF2-40B4-BE49-F238E27FC236}">
                <a16:creationId xmlns:a16="http://schemas.microsoft.com/office/drawing/2014/main"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Ngày 61 đến 90</a:t>
            </a:r>
          </a:p>
        </p:txBody>
      </p:sp>
      <p:sp>
        <p:nvSpPr>
          <p:cNvPr id="7" name="Footer Placeholder 6">
            <a:extLst>
              <a:ext uri="{FF2B5EF4-FFF2-40B4-BE49-F238E27FC236}">
                <a16:creationId xmlns:a16="http://schemas.microsoft.com/office/drawing/2014/main"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44633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CFE5198B-4DE9-7211-B26D-C7E4AA289A1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13</a:t>
            </a:fld>
            <a:endParaRPr dirty="0">
              <a:sym typeface="OpenAI Sans"/>
            </a:endParaRPr>
          </a:p>
        </p:txBody>
      </p:sp>
      <p:sp>
        <p:nvSpPr>
          <p:cNvPr id="533" name="Google Shape;533;p58">
            <a:extLst>
              <a:ext uri="{FF2B5EF4-FFF2-40B4-BE49-F238E27FC236}">
                <a16:creationId xmlns:a16="http://schemas.microsoft.com/office/drawing/2014/main"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Trình tự thử nghiệm đề xuất</a:t>
            </a:r>
            <a:endParaRPr dirty="0">
              <a:solidFill>
                <a:schemeClr val="accent1"/>
              </a:solidFill>
            </a:endParaRPr>
          </a:p>
        </p:txBody>
      </p:sp>
      <p:graphicFrame>
        <p:nvGraphicFramePr>
          <p:cNvPr id="4" name="Google Shape;953;p80">
            <a:extLst>
              <a:ext uri="{FF2B5EF4-FFF2-40B4-BE49-F238E27FC236}">
                <a16:creationId xmlns:a16="http://schemas.microsoft.com/office/drawing/2014/main" id="{132CDF09-C451-CA62-761F-27510206387F}"/>
              </a:ext>
            </a:extLst>
          </p:cNvPr>
          <p:cNvGraphicFramePr/>
          <p:nvPr>
            <p:extLst>
              <p:ext uri="{D42A27DB-BD31-4B8C-83A1-F6EECF244321}">
                <p14:modId xmlns:p14="http://schemas.microsoft.com/office/powerpoint/2010/main"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xmlns:a16="http://schemas.microsoft.com/office/drawing/2014/main" val="20000"/>
                    </a:ext>
                  </a:extLst>
                </a:gridCol>
                <a:gridCol w="2280920">
                  <a:extLst>
                    <a:ext uri="{9D8B030D-6E8A-4147-A177-3AD203B41FA5}">
                      <a16:colId xmlns:a16="http://schemas.microsoft.com/office/drawing/2014/main" val="20001"/>
                    </a:ext>
                  </a:extLst>
                </a:gridCol>
                <a:gridCol w="2280920">
                  <a:extLst>
                    <a:ext uri="{9D8B030D-6E8A-4147-A177-3AD203B41FA5}">
                      <a16:colId xmlns:a16="http://schemas.microsoft.com/office/drawing/2014/main" val="20002"/>
                    </a:ext>
                  </a:extLst>
                </a:gridCol>
                <a:gridCol w="2280920">
                  <a:extLst>
                    <a:ext uri="{9D8B030D-6E8A-4147-A177-3AD203B41FA5}">
                      <a16:colId xmlns:a16="http://schemas.microsoft.com/office/drawing/2014/main" val="20003"/>
                    </a:ext>
                  </a:extLst>
                </a:gridCol>
                <a:gridCol w="2280920">
                  <a:extLst>
                    <a:ext uri="{9D8B030D-6E8A-4147-A177-3AD203B41FA5}">
                      <a16:colId xmlns:a16="http://schemas.microsoft.com/office/drawing/2014/main"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Chuẩn bị</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MVP</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Pilot</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Theo dõi</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Quyết định</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 name="Google Shape;955;p80">
            <a:extLst>
              <a:ext uri="{FF2B5EF4-FFF2-40B4-BE49-F238E27FC236}">
                <a16:creationId xmlns:a16="http://schemas.microsoft.com/office/drawing/2014/main"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E3 OCR trên holdout</a:t>
            </a:r>
          </a:p>
        </p:txBody>
      </p:sp>
      <p:sp>
        <p:nvSpPr>
          <p:cNvPr id="6" name="Google Shape;957;p80">
            <a:extLst>
              <a:ext uri="{FF2B5EF4-FFF2-40B4-BE49-F238E27FC236}">
                <a16:creationId xmlns:a16="http://schemas.microsoft.com/office/drawing/2014/main"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E4 Pilot trả phí 4 tuần</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xmlns:a16="http://schemas.microsoft.com/office/drawing/2014/main"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Đánh giá và quyết định</a:t>
            </a:r>
          </a:p>
        </p:txBody>
      </p:sp>
      <p:sp>
        <p:nvSpPr>
          <p:cNvPr id="8" name="Google Shape;963;p80">
            <a:extLst>
              <a:ext uri="{FF2B5EF4-FFF2-40B4-BE49-F238E27FC236}">
                <a16:creationId xmlns:a16="http://schemas.microsoft.com/office/drawing/2014/main"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E3 Xây dataset 200 ảnh</a:t>
            </a:r>
          </a:p>
        </p:txBody>
      </p:sp>
      <p:sp>
        <p:nvSpPr>
          <p:cNvPr id="9" name="Google Shape;966;p80">
            <a:extLst>
              <a:ext uri="{FF2B5EF4-FFF2-40B4-BE49-F238E27FC236}">
                <a16:creationId xmlns:a16="http://schemas.microsoft.com/office/drawing/2014/main"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E2 Tác vụ paired</a:t>
            </a:r>
          </a:p>
        </p:txBody>
      </p:sp>
      <p:sp>
        <p:nvSpPr>
          <p:cNvPr id="10" name="Google Shape;969;p80">
            <a:extLst>
              <a:ext uri="{FF2B5EF4-FFF2-40B4-BE49-F238E27FC236}">
                <a16:creationId xmlns:a16="http://schemas.microsoft.com/office/drawing/2014/main"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E1 Onboarding 20 người</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xmlns:a16="http://schemas.microsoft.com/office/drawing/2014/main"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243517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55DD-98B9-E077-6778-D5F2B926E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Quyết định đầu tư</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Windows và CSKH Việt Anh là hướng thử</a:t>
            </a:r>
          </a:p>
          <a:p>
            <a:pPr>
              <a:lnSpc>
                <a:spcPct val="120000"/>
              </a:lnSpc>
            </a:pPr>
            <a:r>
              <a:rPr lang="en-US" sz="1600" dirty="0">
                <a:solidFill>
                  <a:schemeClr val="accent2">
                    <a:lumMod val="50000"/>
                  </a:schemeClr>
                </a:solidFill>
              </a:rPr>
              <a:t>P0 trước glossary và memory</a:t>
            </a:r>
          </a:p>
          <a:p>
            <a:pPr>
              <a:lnSpc>
                <a:spcPct val="120000"/>
              </a:lnSpc>
            </a:pPr>
            <a:r>
              <a:rPr lang="en-US" sz="1600" dirty="0">
                <a:solidFill>
                  <a:schemeClr val="accent2">
                    <a:lumMod val="50000"/>
                  </a:schemeClr>
                </a:solidFill>
              </a:rPr>
              <a:t>Mục tiêu 3 tổ chức trả phí trong 5 pilot</a:t>
            </a:r>
          </a:p>
        </p:txBody>
      </p:sp>
      <p:cxnSp>
        <p:nvCxnSpPr>
          <p:cNvPr id="3" name="Straight Connector 2">
            <a:extLst>
              <a:ext uri="{FF2B5EF4-FFF2-40B4-BE49-F238E27FC236}">
                <a16:creationId xmlns:a16="http://schemas.microsoft.com/office/drawing/2014/main"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OpenAI Sans</vt:lpstr>
      <vt:lpstr>Helvetica Neue Medium</vt:lpstr>
      <vt:lpstr>Aptos</vt:lpstr>
      <vt:lpstr>Default Codex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coreProperties>
</file>